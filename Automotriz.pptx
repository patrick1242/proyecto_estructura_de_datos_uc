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4608"/>
        <p:guide pos="2592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4862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146845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52810066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7967405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9577695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781947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791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4695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4859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7133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8316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6403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93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6420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0622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841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3156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2787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1585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0546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1334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1028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013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8640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365690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282644712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61064559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63339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1513949549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65825381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773661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2038108960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1128326171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437313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586148715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2146457566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172159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225418739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197948884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498251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1598197425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2105941928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Patrick1242/Proyecto_Estructura_de_Datos_UC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863568" name="Text 0"/>
          <p:cNvSpPr/>
          <p:nvPr/>
        </p:nvSpPr>
        <p:spPr bwMode="auto">
          <a:xfrm>
            <a:off x="793789" y="1710689"/>
            <a:ext cx="13315083" cy="72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 b="1">
                <a:solidFill>
                  <a:srgbClr val="E1E5CD"/>
                </a:solidFill>
                <a:latin typeface="Outfit Bold"/>
                <a:ea typeface="Outfit Bold"/>
                <a:cs typeface="Outfit Bold"/>
              </a:rPr>
              <a:t>Sistema de Gestión Automotriz</a:t>
            </a:r>
            <a:r>
              <a:rPr sz="4450" b="1">
                <a:solidFill>
                  <a:srgbClr val="E1E5CD"/>
                </a:solidFill>
                <a:latin typeface="Outfit Bold"/>
                <a:ea typeface="Outfit Bold"/>
                <a:cs typeface="Outfit Bold"/>
              </a:rPr>
              <a:t> Cristo Blanco S.A</a:t>
            </a:r>
            <a:r>
              <a:rPr sz="4450" b="1">
                <a:solidFill>
                  <a:srgbClr val="E1E5CD"/>
                </a:solidFill>
                <a:latin typeface="Outfit Bold"/>
                <a:ea typeface="Outfit Bold"/>
                <a:cs typeface="Outfit Bold"/>
              </a:rPr>
              <a:t> </a:t>
            </a:r>
            <a:endParaRPr lang="en-US" sz="4450"/>
          </a:p>
        </p:txBody>
      </p:sp>
      <p:sp>
        <p:nvSpPr>
          <p:cNvPr id="556424692" name="Text 1"/>
          <p:cNvSpPr/>
          <p:nvPr/>
        </p:nvSpPr>
        <p:spPr bwMode="auto">
          <a:xfrm>
            <a:off x="793790" y="2510195"/>
            <a:ext cx="692419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  <a:defRPr/>
            </a:pPr>
            <a:r>
              <a:rPr lang="en-US" sz="3550" b="1">
                <a:solidFill>
                  <a:srgbClr val="E1E5CD"/>
                </a:solidFill>
                <a:latin typeface="Outfit Bold"/>
                <a:ea typeface="Outfit Bold"/>
                <a:cs typeface="Outfit Bold"/>
              </a:rPr>
              <a:t>Proyecto de Estructuras de Datos</a:t>
            </a:r>
            <a:endParaRPr lang="en-US" sz="3550"/>
          </a:p>
        </p:txBody>
      </p:sp>
      <p:sp>
        <p:nvSpPr>
          <p:cNvPr id="1982645850" name="Text 2"/>
          <p:cNvSpPr/>
          <p:nvPr/>
        </p:nvSpPr>
        <p:spPr bwMode="auto">
          <a:xfrm>
            <a:off x="793790" y="34173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b="1">
                <a:solidFill>
                  <a:srgbClr val="C2C4B5"/>
                </a:solidFill>
                <a:latin typeface="Bitter"/>
                <a:ea typeface="Bitter"/>
                <a:cs typeface="Bitter"/>
              </a:rPr>
              <a:t>Empresa:</a:t>
            </a: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 Automotriz Cristo Blanco S.A.C.</a:t>
            </a:r>
            <a:endParaRPr lang="en-US" sz="1750"/>
          </a:p>
        </p:txBody>
      </p:sp>
      <p:sp>
        <p:nvSpPr>
          <p:cNvPr id="1547955313" name="Text 3"/>
          <p:cNvSpPr/>
          <p:nvPr/>
        </p:nvSpPr>
        <p:spPr bwMode="auto">
          <a:xfrm>
            <a:off x="793790" y="40353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b="1">
                <a:solidFill>
                  <a:srgbClr val="C2C4B5"/>
                </a:solidFill>
                <a:latin typeface="Bitter"/>
                <a:ea typeface="Bitter"/>
                <a:cs typeface="Bitter"/>
              </a:rPr>
              <a:t>Integrantes GRUPO C:</a:t>
            </a:r>
            <a:endParaRPr lang="en-US" sz="1750"/>
          </a:p>
        </p:txBody>
      </p:sp>
      <p:sp>
        <p:nvSpPr>
          <p:cNvPr id="567941757" name="Text 4"/>
          <p:cNvSpPr/>
          <p:nvPr/>
        </p:nvSpPr>
        <p:spPr bwMode="auto">
          <a:xfrm>
            <a:off x="793790" y="4653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Lima Tintaya Jeferson Jose</a:t>
            </a:r>
            <a:endParaRPr lang="en-US" sz="1750"/>
          </a:p>
        </p:txBody>
      </p:sp>
      <p:sp>
        <p:nvSpPr>
          <p:cNvPr id="524547097" name="Text 5"/>
          <p:cNvSpPr/>
          <p:nvPr/>
        </p:nvSpPr>
        <p:spPr bwMode="auto">
          <a:xfrm>
            <a:off x="793790" y="50956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Leguia Choquemamani Patrick Antonio</a:t>
            </a:r>
            <a:endParaRPr lang="en-US" sz="1750"/>
          </a:p>
        </p:txBody>
      </p:sp>
      <p:sp>
        <p:nvSpPr>
          <p:cNvPr id="488087760" name="Text 6"/>
          <p:cNvSpPr/>
          <p:nvPr/>
        </p:nvSpPr>
        <p:spPr bwMode="auto">
          <a:xfrm>
            <a:off x="793790" y="55378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Alvares Rodriguez Wernher</a:t>
            </a:r>
            <a:endParaRPr lang="en-US" sz="1750"/>
          </a:p>
        </p:txBody>
      </p:sp>
      <p:sp>
        <p:nvSpPr>
          <p:cNvPr id="1227398378" name="Text 7"/>
          <p:cNvSpPr/>
          <p:nvPr/>
        </p:nvSpPr>
        <p:spPr bwMode="auto">
          <a:xfrm>
            <a:off x="793790" y="61558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b="1">
                <a:solidFill>
                  <a:srgbClr val="C2C4B5"/>
                </a:solidFill>
                <a:latin typeface="Bitter"/>
                <a:ea typeface="Bitter"/>
                <a:cs typeface="Bitter"/>
              </a:rPr>
              <a:t>Curso:</a:t>
            </a: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 Estructuras de Datos</a:t>
            </a:r>
            <a:endParaRPr lang="en-US" sz="1750"/>
          </a:p>
        </p:txBody>
      </p:sp>
      <p:sp>
        <p:nvSpPr>
          <p:cNvPr id="88354426" name=""/>
          <p:cNvSpPr/>
          <p:nvPr/>
        </p:nvSpPr>
        <p:spPr bwMode="auto">
          <a:xfrm flipH="0" flipV="0">
            <a:off x="12567288" y="7700331"/>
            <a:ext cx="1962379" cy="481987"/>
          </a:xfrm>
          <a:prstGeom prst="rect">
            <a:avLst/>
          </a:prstGeom>
          <a:solidFill>
            <a:srgbClr val="1C1D1F"/>
          </a:solidFill>
          <a:ln w="12700" cap="flat" cmpd="sng" algn="ctr">
            <a:solidFill>
              <a:srgbClr val="1C1D1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25880" name="Text 0"/>
          <p:cNvSpPr/>
          <p:nvPr/>
        </p:nvSpPr>
        <p:spPr bwMode="auto">
          <a:xfrm>
            <a:off x="793790" y="1902023"/>
            <a:ext cx="74092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 b="1">
                <a:solidFill>
                  <a:srgbClr val="E1E5CD"/>
                </a:solidFill>
                <a:latin typeface="Outfit Bold"/>
                <a:ea typeface="Outfit Bold"/>
                <a:cs typeface="Outfit Bold"/>
              </a:rPr>
              <a:t>Planteamiento del Problema</a:t>
            </a:r>
            <a:endParaRPr lang="en-US" sz="4450"/>
          </a:p>
        </p:txBody>
      </p:sp>
      <p:sp>
        <p:nvSpPr>
          <p:cNvPr id="780033920" name="Text 1"/>
          <p:cNvSpPr/>
          <p:nvPr/>
        </p:nvSpPr>
        <p:spPr bwMode="auto">
          <a:xfrm>
            <a:off x="793790" y="2950964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Automotriz Cristo Blanco S.A.C., concesionario en Cusco, enfrenta limitaciones críticas en gestión de ventas, postventa y servicio técnico. Las operaciones manuales generan demoras significativas, errores de coordinación y falta de control de información, impactando la satisfacción del cliente y competitividad empresarial.</a:t>
            </a:r>
            <a:endParaRPr lang="en-US" sz="1750"/>
          </a:p>
        </p:txBody>
      </p:sp>
      <p:sp>
        <p:nvSpPr>
          <p:cNvPr id="1260040577" name="Shape 2"/>
          <p:cNvSpPr/>
          <p:nvPr/>
        </p:nvSpPr>
        <p:spPr bwMode="auto">
          <a:xfrm>
            <a:off x="793790" y="4294823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3B3C3E"/>
          </a:solidFill>
          <a:ln/>
        </p:spPr>
      </p:sp>
      <p:sp>
        <p:nvSpPr>
          <p:cNvPr id="1755631660" name="Text 3"/>
          <p:cNvSpPr/>
          <p:nvPr/>
        </p:nvSpPr>
        <p:spPr bwMode="auto">
          <a:xfrm>
            <a:off x="1020604" y="4521637"/>
            <a:ext cx="30266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 b="1">
                <a:solidFill>
                  <a:srgbClr val="C2C4B5"/>
                </a:solidFill>
                <a:latin typeface="Outfit Bold"/>
                <a:ea typeface="Outfit Bold"/>
                <a:cs typeface="Outfit Bold"/>
              </a:rPr>
              <a:t>Demoras Significativas</a:t>
            </a:r>
            <a:endParaRPr lang="en-US" sz="2200"/>
          </a:p>
        </p:txBody>
      </p:sp>
      <p:sp>
        <p:nvSpPr>
          <p:cNvPr id="1216938311" name="Text 4"/>
          <p:cNvSpPr/>
          <p:nvPr/>
        </p:nvSpPr>
        <p:spPr bwMode="auto">
          <a:xfrm>
            <a:off x="1020604" y="501205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Cotizaciones tardan horas o días. Programación de citas hasta 48 horas.</a:t>
            </a:r>
            <a:endParaRPr lang="en-US" sz="1750"/>
          </a:p>
        </p:txBody>
      </p:sp>
      <p:sp>
        <p:nvSpPr>
          <p:cNvPr id="1763320314" name="Shape 5"/>
          <p:cNvSpPr/>
          <p:nvPr/>
        </p:nvSpPr>
        <p:spPr bwMode="auto">
          <a:xfrm>
            <a:off x="5216962" y="4294823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3B3C3E"/>
          </a:solidFill>
          <a:ln/>
        </p:spPr>
      </p:sp>
      <p:sp>
        <p:nvSpPr>
          <p:cNvPr id="611239994" name="Text 6"/>
          <p:cNvSpPr/>
          <p:nvPr/>
        </p:nvSpPr>
        <p:spPr bwMode="auto">
          <a:xfrm>
            <a:off x="5443776" y="4521637"/>
            <a:ext cx="31568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 b="1">
                <a:solidFill>
                  <a:srgbClr val="C2C4B5"/>
                </a:solidFill>
                <a:latin typeface="Outfit Bold"/>
                <a:ea typeface="Outfit Bold"/>
                <a:cs typeface="Outfit Bold"/>
              </a:rPr>
              <a:t>Errores de Coordinación</a:t>
            </a:r>
            <a:endParaRPr lang="en-US" sz="2200"/>
          </a:p>
        </p:txBody>
      </p:sp>
      <p:sp>
        <p:nvSpPr>
          <p:cNvPr id="1711625808" name="Text 7"/>
          <p:cNvSpPr/>
          <p:nvPr/>
        </p:nvSpPr>
        <p:spPr bwMode="auto">
          <a:xfrm>
            <a:off x="5443776" y="501205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Duplicidad de registros, contactos repetidos, conflictos en citas técnicas.</a:t>
            </a:r>
            <a:endParaRPr lang="en-US" sz="1750"/>
          </a:p>
        </p:txBody>
      </p:sp>
      <p:sp>
        <p:nvSpPr>
          <p:cNvPr id="121979198" name="Shape 8"/>
          <p:cNvSpPr/>
          <p:nvPr/>
        </p:nvSpPr>
        <p:spPr bwMode="auto">
          <a:xfrm>
            <a:off x="9640133" y="4294823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3B3C3E"/>
          </a:solidFill>
          <a:ln/>
        </p:spPr>
      </p:sp>
      <p:sp>
        <p:nvSpPr>
          <p:cNvPr id="871850810" name="Text 9"/>
          <p:cNvSpPr/>
          <p:nvPr/>
        </p:nvSpPr>
        <p:spPr bwMode="auto">
          <a:xfrm>
            <a:off x="9866948" y="45216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 b="1">
                <a:solidFill>
                  <a:srgbClr val="C2C4B5"/>
                </a:solidFill>
                <a:latin typeface="Outfit Bold"/>
                <a:ea typeface="Outfit Bold"/>
                <a:cs typeface="Outfit Bold"/>
              </a:rPr>
              <a:t>Falta de Control</a:t>
            </a:r>
            <a:endParaRPr lang="en-US" sz="2200"/>
          </a:p>
        </p:txBody>
      </p:sp>
      <p:sp>
        <p:nvSpPr>
          <p:cNvPr id="1604426130" name="Text 10"/>
          <p:cNvSpPr/>
          <p:nvPr/>
        </p:nvSpPr>
        <p:spPr bwMode="auto">
          <a:xfrm>
            <a:off x="9866948" y="501205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Sin base de datos unificada, pérdida de información valiosa y riesgo normativo.</a:t>
            </a:r>
            <a:endParaRPr lang="en-US" sz="1750"/>
          </a:p>
        </p:txBody>
      </p:sp>
      <p:sp>
        <p:nvSpPr>
          <p:cNvPr id="1948577114" name=""/>
          <p:cNvSpPr/>
          <p:nvPr/>
        </p:nvSpPr>
        <p:spPr bwMode="auto">
          <a:xfrm flipH="0" flipV="0">
            <a:off x="12819758" y="7746234"/>
            <a:ext cx="1709909" cy="378704"/>
          </a:xfrm>
          <a:prstGeom prst="rect">
            <a:avLst/>
          </a:prstGeom>
          <a:solidFill>
            <a:srgbClr val="1C1D1F"/>
          </a:solidFill>
          <a:ln w="12700" cap="flat" cmpd="sng" algn="ctr">
            <a:solidFill>
              <a:srgbClr val="1C1D1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276875" name="Text 0"/>
          <p:cNvSpPr/>
          <p:nvPr/>
        </p:nvSpPr>
        <p:spPr bwMode="auto">
          <a:xfrm>
            <a:off x="702588" y="551974"/>
            <a:ext cx="8233410" cy="62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  <a:defRPr/>
            </a:pPr>
            <a:r>
              <a:rPr lang="en-US" sz="3950" b="1">
                <a:solidFill>
                  <a:srgbClr val="E1E5CD"/>
                </a:solidFill>
                <a:latin typeface="Outfit Bold"/>
                <a:ea typeface="Outfit Bold"/>
                <a:cs typeface="Outfit Bold"/>
              </a:rPr>
              <a:t>Estructuras de Datos y Operaciones</a:t>
            </a:r>
            <a:endParaRPr lang="en-US" sz="3950"/>
          </a:p>
        </p:txBody>
      </p:sp>
      <p:sp>
        <p:nvSpPr>
          <p:cNvPr id="1955729194" name="Text 1"/>
          <p:cNvSpPr/>
          <p:nvPr/>
        </p:nvSpPr>
        <p:spPr bwMode="auto">
          <a:xfrm>
            <a:off x="702588" y="1480304"/>
            <a:ext cx="13225223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15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El Sistema de Gestión Automotriz Integral (SGAI) implementa tres estructuras dinámicas optimizadas para cada módulo operativo, permitiendo flexibilidad y eficiencia en la gestión de información.</a:t>
            </a:r>
            <a:endParaRPr lang="en-US" sz="1550"/>
          </a:p>
        </p:txBody>
      </p:sp>
      <p:sp>
        <p:nvSpPr>
          <p:cNvPr id="731406287" name="Shape 2"/>
          <p:cNvSpPr/>
          <p:nvPr/>
        </p:nvSpPr>
        <p:spPr bwMode="auto">
          <a:xfrm>
            <a:off x="702588" y="2348270"/>
            <a:ext cx="13225223" cy="1643895"/>
          </a:xfrm>
          <a:prstGeom prst="roundRect">
            <a:avLst>
              <a:gd name="adj" fmla="val 1832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484218301" name="Shape 3"/>
          <p:cNvSpPr/>
          <p:nvPr/>
        </p:nvSpPr>
        <p:spPr bwMode="auto">
          <a:xfrm>
            <a:off x="725448" y="2371130"/>
            <a:ext cx="802957" cy="1598176"/>
          </a:xfrm>
          <a:prstGeom prst="roundRect">
            <a:avLst>
              <a:gd name="adj" fmla="val 334"/>
            </a:avLst>
          </a:prstGeom>
          <a:solidFill>
            <a:srgbClr val="3B3C3E"/>
          </a:solidFill>
          <a:ln/>
        </p:spPr>
      </p:sp>
      <p:sp>
        <p:nvSpPr>
          <p:cNvPr id="216474697" name="Text 4"/>
          <p:cNvSpPr/>
          <p:nvPr/>
        </p:nvSpPr>
        <p:spPr bwMode="auto">
          <a:xfrm>
            <a:off x="976312" y="2982039"/>
            <a:ext cx="301109" cy="376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2350" b="1">
                <a:solidFill>
                  <a:srgbClr val="C2C4B5"/>
                </a:solidFill>
                <a:latin typeface="Outfit Bold"/>
                <a:ea typeface="Outfit Bold"/>
                <a:cs typeface="Outfit Bold"/>
              </a:rPr>
              <a:t>1</a:t>
            </a:r>
            <a:endParaRPr lang="en-US" sz="2350"/>
          </a:p>
        </p:txBody>
      </p:sp>
      <p:sp>
        <p:nvSpPr>
          <p:cNvPr id="910034674" name="Text 5"/>
          <p:cNvSpPr/>
          <p:nvPr/>
        </p:nvSpPr>
        <p:spPr bwMode="auto">
          <a:xfrm>
            <a:off x="1729145" y="2571869"/>
            <a:ext cx="2509361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  <a:defRPr/>
            </a:pPr>
            <a:r>
              <a:rPr lang="en-US" sz="1950" b="1">
                <a:solidFill>
                  <a:srgbClr val="C2C4B5"/>
                </a:solidFill>
                <a:latin typeface="Outfit Bold"/>
                <a:ea typeface="Outfit Bold"/>
                <a:cs typeface="Outfit Bold"/>
              </a:rPr>
              <a:t>Módulo de Ventas</a:t>
            </a:r>
            <a:endParaRPr lang="en-US" sz="1950"/>
          </a:p>
        </p:txBody>
      </p:sp>
      <p:sp>
        <p:nvSpPr>
          <p:cNvPr id="745765078" name="Text 6"/>
          <p:cNvSpPr/>
          <p:nvPr/>
        </p:nvSpPr>
        <p:spPr bwMode="auto">
          <a:xfrm>
            <a:off x="1729145" y="3005971"/>
            <a:ext cx="1197506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1550" b="1">
                <a:solidFill>
                  <a:srgbClr val="C2C4B5"/>
                </a:solidFill>
                <a:latin typeface="Bitter"/>
                <a:ea typeface="Bitter"/>
                <a:cs typeface="Bitter"/>
              </a:rPr>
              <a:t>Estructura:</a:t>
            </a:r>
            <a:r>
              <a:rPr lang="en-US" sz="15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 Lista Enlazada</a:t>
            </a:r>
            <a:endParaRPr lang="en-US" sz="1550"/>
          </a:p>
        </p:txBody>
      </p:sp>
      <p:sp>
        <p:nvSpPr>
          <p:cNvPr id="852068139" name="Text 7"/>
          <p:cNvSpPr/>
          <p:nvPr/>
        </p:nvSpPr>
        <p:spPr bwMode="auto">
          <a:xfrm>
            <a:off x="1729145" y="3447455"/>
            <a:ext cx="1197506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1550" b="1">
                <a:solidFill>
                  <a:srgbClr val="C2C4B5"/>
                </a:solidFill>
                <a:latin typeface="Bitter"/>
                <a:ea typeface="Bitter"/>
                <a:cs typeface="Bitter"/>
              </a:rPr>
              <a:t>Operaciones:</a:t>
            </a:r>
            <a:r>
              <a:rPr lang="en-US" sz="15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 RegistrarCliente(), RegistrarVehículo(), GenerarVenta(), ConsultarHistorialCliente()</a:t>
            </a:r>
            <a:endParaRPr lang="en-US" sz="1550"/>
          </a:p>
        </p:txBody>
      </p:sp>
      <p:sp>
        <p:nvSpPr>
          <p:cNvPr id="1499718720" name="Shape 8"/>
          <p:cNvSpPr/>
          <p:nvPr/>
        </p:nvSpPr>
        <p:spPr bwMode="auto">
          <a:xfrm>
            <a:off x="702588" y="4192905"/>
            <a:ext cx="13225223" cy="1643895"/>
          </a:xfrm>
          <a:prstGeom prst="roundRect">
            <a:avLst>
              <a:gd name="adj" fmla="val 1832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898610223" name="Shape 9"/>
          <p:cNvSpPr/>
          <p:nvPr/>
        </p:nvSpPr>
        <p:spPr bwMode="auto">
          <a:xfrm>
            <a:off x="725448" y="4215765"/>
            <a:ext cx="802957" cy="1598176"/>
          </a:xfrm>
          <a:prstGeom prst="roundRect">
            <a:avLst>
              <a:gd name="adj" fmla="val 334"/>
            </a:avLst>
          </a:prstGeom>
          <a:solidFill>
            <a:srgbClr val="3B3C3E"/>
          </a:solidFill>
          <a:ln/>
        </p:spPr>
      </p:sp>
      <p:sp>
        <p:nvSpPr>
          <p:cNvPr id="199678157" name="Text 10"/>
          <p:cNvSpPr/>
          <p:nvPr/>
        </p:nvSpPr>
        <p:spPr bwMode="auto">
          <a:xfrm>
            <a:off x="976312" y="4826675"/>
            <a:ext cx="301109" cy="376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2350" b="1">
                <a:solidFill>
                  <a:srgbClr val="C2C4B5"/>
                </a:solidFill>
                <a:latin typeface="Outfit Bold"/>
                <a:ea typeface="Outfit Bold"/>
                <a:cs typeface="Outfit Bold"/>
              </a:rPr>
              <a:t>2</a:t>
            </a:r>
            <a:endParaRPr lang="en-US" sz="2350"/>
          </a:p>
        </p:txBody>
      </p:sp>
      <p:sp>
        <p:nvSpPr>
          <p:cNvPr id="611157323" name="Text 11"/>
          <p:cNvSpPr/>
          <p:nvPr/>
        </p:nvSpPr>
        <p:spPr bwMode="auto">
          <a:xfrm>
            <a:off x="1729145" y="4416504"/>
            <a:ext cx="2509361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  <a:defRPr/>
            </a:pPr>
            <a:r>
              <a:rPr lang="en-US" sz="1950" b="1">
                <a:solidFill>
                  <a:srgbClr val="C2C4B5"/>
                </a:solidFill>
                <a:latin typeface="Outfit Bold"/>
                <a:ea typeface="Outfit Bold"/>
                <a:cs typeface="Outfit Bold"/>
              </a:rPr>
              <a:t>Módulo de Postventa</a:t>
            </a:r>
            <a:endParaRPr lang="en-US" sz="1950"/>
          </a:p>
        </p:txBody>
      </p:sp>
      <p:sp>
        <p:nvSpPr>
          <p:cNvPr id="172512756" name="Text 12"/>
          <p:cNvSpPr/>
          <p:nvPr/>
        </p:nvSpPr>
        <p:spPr bwMode="auto">
          <a:xfrm>
            <a:off x="1729145" y="4850606"/>
            <a:ext cx="1197506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1550" b="1">
                <a:solidFill>
                  <a:srgbClr val="C2C4B5"/>
                </a:solidFill>
                <a:latin typeface="Bitter"/>
                <a:ea typeface="Bitter"/>
                <a:cs typeface="Bitter"/>
              </a:rPr>
              <a:t>Estructura:</a:t>
            </a:r>
            <a:r>
              <a:rPr lang="en-US" sz="15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 Cola de Prioridad</a:t>
            </a:r>
            <a:endParaRPr lang="en-US" sz="1550"/>
          </a:p>
        </p:txBody>
      </p:sp>
      <p:sp>
        <p:nvSpPr>
          <p:cNvPr id="1276224733" name="Text 13"/>
          <p:cNvSpPr/>
          <p:nvPr/>
        </p:nvSpPr>
        <p:spPr bwMode="auto">
          <a:xfrm>
            <a:off x="1729145" y="5292090"/>
            <a:ext cx="1197506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1550" b="1">
                <a:solidFill>
                  <a:srgbClr val="C2C4B5"/>
                </a:solidFill>
                <a:latin typeface="Bitter"/>
                <a:ea typeface="Bitter"/>
                <a:cs typeface="Bitter"/>
              </a:rPr>
              <a:t>Operaciones:</a:t>
            </a:r>
            <a:r>
              <a:rPr lang="en-US" sz="15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 EncolarServicio(), EjecutarServicio(), CambiarEstadoServicio(), NotificarCliente()</a:t>
            </a:r>
            <a:endParaRPr lang="en-US" sz="1550"/>
          </a:p>
        </p:txBody>
      </p:sp>
      <p:sp>
        <p:nvSpPr>
          <p:cNvPr id="182573256" name="Shape 14"/>
          <p:cNvSpPr/>
          <p:nvPr/>
        </p:nvSpPr>
        <p:spPr bwMode="auto">
          <a:xfrm>
            <a:off x="702588" y="6037540"/>
            <a:ext cx="13225223" cy="1643895"/>
          </a:xfrm>
          <a:prstGeom prst="roundRect">
            <a:avLst>
              <a:gd name="adj" fmla="val 1832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110322445" name="Shape 15"/>
          <p:cNvSpPr/>
          <p:nvPr/>
        </p:nvSpPr>
        <p:spPr bwMode="auto">
          <a:xfrm>
            <a:off x="725448" y="6060400"/>
            <a:ext cx="802957" cy="1598176"/>
          </a:xfrm>
          <a:prstGeom prst="roundRect">
            <a:avLst>
              <a:gd name="adj" fmla="val 334"/>
            </a:avLst>
          </a:prstGeom>
          <a:solidFill>
            <a:srgbClr val="3B3C3E"/>
          </a:solidFill>
          <a:ln/>
        </p:spPr>
      </p:sp>
      <p:sp>
        <p:nvSpPr>
          <p:cNvPr id="1064108111" name="Text 16"/>
          <p:cNvSpPr/>
          <p:nvPr/>
        </p:nvSpPr>
        <p:spPr bwMode="auto">
          <a:xfrm>
            <a:off x="976312" y="6671310"/>
            <a:ext cx="301109" cy="376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2350" b="1">
                <a:solidFill>
                  <a:srgbClr val="C2C4B5"/>
                </a:solidFill>
                <a:latin typeface="Outfit Bold"/>
                <a:ea typeface="Outfit Bold"/>
                <a:cs typeface="Outfit Bold"/>
              </a:rPr>
              <a:t>3</a:t>
            </a:r>
            <a:endParaRPr lang="en-US" sz="2350"/>
          </a:p>
        </p:txBody>
      </p:sp>
      <p:sp>
        <p:nvSpPr>
          <p:cNvPr id="1573472415" name="Text 17"/>
          <p:cNvSpPr/>
          <p:nvPr/>
        </p:nvSpPr>
        <p:spPr bwMode="auto">
          <a:xfrm>
            <a:off x="1729145" y="6261140"/>
            <a:ext cx="2509361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  <a:defRPr/>
            </a:pPr>
            <a:r>
              <a:rPr lang="en-US" sz="1950" b="1">
                <a:solidFill>
                  <a:srgbClr val="C2C4B5"/>
                </a:solidFill>
                <a:latin typeface="Outfit Bold"/>
                <a:ea typeface="Outfit Bold"/>
                <a:cs typeface="Outfit Bold"/>
              </a:rPr>
              <a:t>Servicio Técnico</a:t>
            </a:r>
            <a:endParaRPr lang="en-US" sz="1950"/>
          </a:p>
        </p:txBody>
      </p:sp>
      <p:sp>
        <p:nvSpPr>
          <p:cNvPr id="1772764582" name="Text 18"/>
          <p:cNvSpPr/>
          <p:nvPr/>
        </p:nvSpPr>
        <p:spPr bwMode="auto">
          <a:xfrm>
            <a:off x="1729145" y="6695242"/>
            <a:ext cx="1197506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1550" b="1">
                <a:solidFill>
                  <a:srgbClr val="C2C4B5"/>
                </a:solidFill>
                <a:latin typeface="Bitter"/>
                <a:ea typeface="Bitter"/>
                <a:cs typeface="Bitter"/>
              </a:rPr>
              <a:t>Estructura:</a:t>
            </a:r>
            <a:r>
              <a:rPr lang="en-US" sz="15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 Pila (LIFO)</a:t>
            </a:r>
            <a:endParaRPr lang="en-US" sz="1550"/>
          </a:p>
        </p:txBody>
      </p:sp>
      <p:sp>
        <p:nvSpPr>
          <p:cNvPr id="1009798067" name="Text 19"/>
          <p:cNvSpPr/>
          <p:nvPr/>
        </p:nvSpPr>
        <p:spPr bwMode="auto">
          <a:xfrm>
            <a:off x="1729145" y="7136725"/>
            <a:ext cx="1197506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1550" b="1">
                <a:solidFill>
                  <a:srgbClr val="C2C4B5"/>
                </a:solidFill>
                <a:latin typeface="Bitter"/>
                <a:ea typeface="Bitter"/>
                <a:cs typeface="Bitter"/>
              </a:rPr>
              <a:t>Operaciones:</a:t>
            </a:r>
            <a:r>
              <a:rPr lang="en-US" sz="15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 AsignarRepuesto(), LiberarRepuesto(), VerificarInventario()</a:t>
            </a:r>
            <a:endParaRPr lang="en-US" sz="1550"/>
          </a:p>
        </p:txBody>
      </p:sp>
      <p:sp>
        <p:nvSpPr>
          <p:cNvPr id="1534753620" name=""/>
          <p:cNvSpPr/>
          <p:nvPr/>
        </p:nvSpPr>
        <p:spPr bwMode="auto">
          <a:xfrm flipH="0" flipV="0">
            <a:off x="12831234" y="7769186"/>
            <a:ext cx="1686957" cy="355752"/>
          </a:xfrm>
          <a:prstGeom prst="rect">
            <a:avLst/>
          </a:prstGeom>
          <a:solidFill>
            <a:srgbClr val="1C1D1F"/>
          </a:solidFill>
          <a:ln w="12700" cap="flat" cmpd="sng" algn="ctr">
            <a:solidFill>
              <a:srgbClr val="1C1D1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807121" name="Text 0"/>
          <p:cNvSpPr/>
          <p:nvPr/>
        </p:nvSpPr>
        <p:spPr bwMode="auto">
          <a:xfrm>
            <a:off x="793790" y="933807"/>
            <a:ext cx="105633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 b="1">
                <a:solidFill>
                  <a:srgbClr val="E1E5CD"/>
                </a:solidFill>
                <a:latin typeface="Outfit Bold"/>
                <a:ea typeface="Outfit Bold"/>
                <a:cs typeface="Outfit Bold"/>
              </a:rPr>
              <a:t>Algoritmos Principales: Agregar Proceso</a:t>
            </a:r>
            <a:endParaRPr lang="en-US" sz="4450"/>
          </a:p>
        </p:txBody>
      </p:sp>
      <p:sp>
        <p:nvSpPr>
          <p:cNvPr id="2101950762" name="Text 1"/>
          <p:cNvSpPr/>
          <p:nvPr/>
        </p:nvSpPr>
        <p:spPr bwMode="auto">
          <a:xfrm>
            <a:off x="793790" y="198274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El pseudocódigo para agregar un proceso integra un nuevo servicio a la cola de prioridad, asignando identificadores únicos, clasificando por urgencia y registrando la fecha de solicitud para procesamiento ordenado.</a:t>
            </a:r>
            <a:endParaRPr lang="en-US" sz="1750"/>
          </a:p>
        </p:txBody>
      </p:sp>
      <p:sp>
        <p:nvSpPr>
          <p:cNvPr id="1178609202" name="Shape 2"/>
          <p:cNvSpPr/>
          <p:nvPr/>
        </p:nvSpPr>
        <p:spPr bwMode="auto">
          <a:xfrm flipH="0" flipV="0">
            <a:off x="793789" y="2963703"/>
            <a:ext cx="6861812" cy="4331970"/>
          </a:xfrm>
          <a:prstGeom prst="roundRect">
            <a:avLst>
              <a:gd name="adj" fmla="val 785"/>
            </a:avLst>
          </a:prstGeom>
          <a:solidFill>
            <a:srgbClr val="292A2C"/>
          </a:solidFill>
          <a:ln/>
        </p:spPr>
      </p:sp>
      <p:sp>
        <p:nvSpPr>
          <p:cNvPr id="963420362" name="Shape 3"/>
          <p:cNvSpPr/>
          <p:nvPr/>
        </p:nvSpPr>
        <p:spPr bwMode="auto">
          <a:xfrm flipH="0" flipV="0">
            <a:off x="782478" y="2963703"/>
            <a:ext cx="6792791" cy="4331970"/>
          </a:xfrm>
          <a:prstGeom prst="roundRect">
            <a:avLst>
              <a:gd name="adj" fmla="val 785"/>
            </a:avLst>
          </a:prstGeom>
          <a:solidFill>
            <a:srgbClr val="292A2C"/>
          </a:solidFill>
          <a:ln/>
        </p:spPr>
      </p:sp>
      <p:sp>
        <p:nvSpPr>
          <p:cNvPr id="1566259021" name="Text 4"/>
          <p:cNvSpPr/>
          <p:nvPr/>
        </p:nvSpPr>
        <p:spPr bwMode="auto">
          <a:xfrm flipH="0" flipV="0">
            <a:off x="1009292" y="3133724"/>
            <a:ext cx="6715164" cy="3991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2000" b="1" i="0" u="sng">
                <a:solidFill>
                  <a:schemeClr val="bg1"/>
                </a:solidFill>
                <a:latin typeface="Arial"/>
                <a:ea typeface="Arial"/>
                <a:cs typeface="Arial"/>
              </a:rPr>
              <a:t>Pseudocódigo para agregar proceso</a:t>
            </a:r>
            <a:endParaRPr sz="2400" b="0" i="0" u="sng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1600" b="0" i="0" u="none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PROCEDIMIENTO </a:t>
            </a:r>
            <a:endParaRPr sz="1600" b="1" i="0" u="none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AgregarProceso(id_cliente, tipo_proceso, prioridad)</a:t>
            </a:r>
            <a:endParaRPr sz="1600" b="1" i="0" u="none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NUEVO ← CREAR_NODO()</a:t>
            </a:r>
            <a:endParaRPr sz="24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NUEVO.id_proceso ← generarID()</a:t>
            </a:r>
            <a:endParaRPr sz="24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NUEVO.id_cliente ← id_cliente</a:t>
            </a:r>
            <a:endParaRPr sz="24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NUEVO.tipo_proceso ← tipo_proceso</a:t>
            </a:r>
            <a:endParaRPr sz="24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NUEVO.prioridad ← prioridad</a:t>
            </a:r>
            <a:endParaRPr sz="24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NUEVO.estado ← "Pendiente"</a:t>
            </a:r>
            <a:endParaRPr sz="24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NUEVO.fecha ← fecha_actual()</a:t>
            </a:r>
            <a:endParaRPr sz="24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ENCOLAR(cola_procesos, NUEVO)</a:t>
            </a:r>
            <a:endParaRPr sz="24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MOSTRAR "Proceso registrado correctamente para el cliente: " + id_cliente</a:t>
            </a:r>
            <a:endParaRPr sz="24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FIN PROCEDIMIENTO</a:t>
            </a:r>
            <a:endParaRPr/>
          </a:p>
        </p:txBody>
      </p:sp>
      <p:sp>
        <p:nvSpPr>
          <p:cNvPr id="979849262" name="Shape 3"/>
          <p:cNvSpPr/>
          <p:nvPr/>
        </p:nvSpPr>
        <p:spPr bwMode="auto">
          <a:xfrm flipH="0" flipV="0">
            <a:off x="7797073" y="2963703"/>
            <a:ext cx="6571932" cy="4331970"/>
          </a:xfrm>
          <a:prstGeom prst="roundRect">
            <a:avLst>
              <a:gd name="adj" fmla="val 785"/>
            </a:avLst>
          </a:prstGeom>
          <a:solidFill>
            <a:srgbClr val="292A2C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68906601" name=""/>
          <p:cNvSpPr/>
          <p:nvPr/>
        </p:nvSpPr>
        <p:spPr bwMode="auto">
          <a:xfrm flipH="0" flipV="0">
            <a:off x="7914546" y="3133724"/>
            <a:ext cx="6309952" cy="41151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800" b="1" i="0" u="sng">
                <a:solidFill>
                  <a:schemeClr val="bg1"/>
                </a:solidFill>
                <a:latin typeface="Arial"/>
                <a:ea typeface="Arial"/>
                <a:cs typeface="Arial"/>
              </a:rPr>
              <a:t>Pseudocódigo para cambiar el estado del proceso</a:t>
            </a:r>
            <a:endParaRPr sz="1800" b="1" i="0" u="sng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400" b="1" u="sng">
              <a:solidFill>
                <a:schemeClr val="bg1"/>
              </a:solidFill>
            </a:endParaRPr>
          </a:p>
          <a:p>
            <a:pPr>
              <a:defRPr/>
            </a:pPr>
            <a:r>
              <a:rPr sz="18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PROCEDIMIENTO CambiarEstadoProceso(id_proceso, nuevo_estado)</a:t>
            </a:r>
            <a:endParaRPr sz="26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8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TEMP ← BUSCAR(cola_procesos, id_proceso)</a:t>
            </a:r>
            <a:endParaRPr sz="26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8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SI TEMP ≠ NULL ENTONCES</a:t>
            </a:r>
            <a:endParaRPr sz="26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8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    TEMP.estado ← nuevo_estado</a:t>
            </a:r>
            <a:endParaRPr sz="26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8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    MOSTRAR "El estado del proceso ha sido actualizado a: " + nuevo_estado</a:t>
            </a:r>
            <a:endParaRPr sz="26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8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SINO</a:t>
            </a:r>
            <a:endParaRPr sz="26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8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    MOSTRAR "Proceso no encontrado en el sistema."</a:t>
            </a:r>
            <a:endParaRPr sz="26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8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   FIN SI</a:t>
            </a:r>
            <a:endParaRPr sz="2600" b="1">
              <a:solidFill>
                <a:schemeClr val="bg1"/>
              </a:solidFill>
            </a:endParaRPr>
          </a:p>
          <a:p>
            <a:pPr>
              <a:defRPr/>
            </a:pPr>
            <a:r>
              <a:rPr sz="18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FIN PROCEDIMIENTO</a:t>
            </a:r>
            <a:br>
              <a:rPr sz="18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endParaRPr sz="2400" b="1" u="sng">
              <a:solidFill>
                <a:schemeClr val="bg1"/>
              </a:solidFill>
            </a:endParaRPr>
          </a:p>
        </p:txBody>
      </p:sp>
      <p:sp>
        <p:nvSpPr>
          <p:cNvPr id="1797459933" name=""/>
          <p:cNvSpPr/>
          <p:nvPr/>
        </p:nvSpPr>
        <p:spPr bwMode="auto">
          <a:xfrm flipH="0" flipV="0">
            <a:off x="12567288" y="7746234"/>
            <a:ext cx="1996806" cy="424608"/>
          </a:xfrm>
          <a:prstGeom prst="rect">
            <a:avLst/>
          </a:prstGeom>
          <a:solidFill>
            <a:srgbClr val="1C1D1F"/>
          </a:solidFill>
          <a:ln w="12700" cap="flat" cmpd="sng" algn="ctr">
            <a:solidFill>
              <a:srgbClr val="1C1D1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345762" name="Text 0"/>
          <p:cNvSpPr/>
          <p:nvPr/>
        </p:nvSpPr>
        <p:spPr bwMode="auto">
          <a:xfrm>
            <a:off x="630079" y="496610"/>
            <a:ext cx="6380678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  <a:defRPr/>
            </a:pPr>
            <a:r>
              <a:rPr lang="en-US" sz="3500" b="1">
                <a:solidFill>
                  <a:srgbClr val="E1E5CD"/>
                </a:solidFill>
                <a:latin typeface="Outfit Bold"/>
                <a:ea typeface="Outfit Bold"/>
                <a:cs typeface="Outfit Bold"/>
              </a:rPr>
              <a:t>Diagramas de Flujo Principales</a:t>
            </a:r>
            <a:endParaRPr lang="en-US" sz="3500"/>
          </a:p>
        </p:txBody>
      </p:sp>
      <p:sp>
        <p:nvSpPr>
          <p:cNvPr id="10273212" name="Text 1"/>
          <p:cNvSpPr/>
          <p:nvPr/>
        </p:nvSpPr>
        <p:spPr bwMode="auto">
          <a:xfrm>
            <a:off x="630079" y="1419225"/>
            <a:ext cx="13370243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Los diagramas de flujo visualizan los procesos críticos de venta y servicio técnico, mostrando la secuencia de operaciones, decisiones y puntos de control para garantizar eficiencia operativa.</a:t>
            </a:r>
            <a:endParaRPr lang="en-US" sz="1400"/>
          </a:p>
        </p:txBody>
      </p:sp>
      <p:sp>
        <p:nvSpPr>
          <p:cNvPr id="1180598679" name="Text 2"/>
          <p:cNvSpPr/>
          <p:nvPr/>
        </p:nvSpPr>
        <p:spPr bwMode="auto">
          <a:xfrm>
            <a:off x="630079" y="2377797"/>
            <a:ext cx="2250281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750" b="1">
                <a:solidFill>
                  <a:srgbClr val="E1E5CD"/>
                </a:solidFill>
                <a:latin typeface="Outfit Bold"/>
                <a:ea typeface="Outfit Bold"/>
                <a:cs typeface="Outfit Bold"/>
              </a:rPr>
              <a:t>Proceso de Venta</a:t>
            </a:r>
            <a:endParaRPr lang="en-US" sz="1750"/>
          </a:p>
        </p:txBody>
      </p:sp>
      <p:pic>
        <p:nvPicPr>
          <p:cNvPr id="681028702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0079" y="2861548"/>
            <a:ext cx="2760345" cy="4634270"/>
          </a:xfrm>
          <a:prstGeom prst="rect">
            <a:avLst/>
          </a:prstGeom>
        </p:spPr>
      </p:pic>
      <p:sp>
        <p:nvSpPr>
          <p:cNvPr id="1284142008" name="Text 3"/>
          <p:cNvSpPr/>
          <p:nvPr/>
        </p:nvSpPr>
        <p:spPr bwMode="auto">
          <a:xfrm>
            <a:off x="7542371" y="2377797"/>
            <a:ext cx="2250281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750" b="1">
                <a:solidFill>
                  <a:srgbClr val="E1E5CD"/>
                </a:solidFill>
                <a:latin typeface="Outfit Bold"/>
                <a:ea typeface="Outfit Bold"/>
                <a:cs typeface="Outfit Bold"/>
              </a:rPr>
              <a:t>Servicio Técnico</a:t>
            </a:r>
            <a:endParaRPr lang="en-US" sz="1750"/>
          </a:p>
        </p:txBody>
      </p:sp>
      <p:pic>
        <p:nvPicPr>
          <p:cNvPr id="1913891164" name="Image 1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542371" y="2861548"/>
            <a:ext cx="2830354" cy="4668917"/>
          </a:xfrm>
          <a:prstGeom prst="rect">
            <a:avLst/>
          </a:prstGeom>
        </p:spPr>
      </p:pic>
      <p:sp>
        <p:nvSpPr>
          <p:cNvPr id="627384547" name=""/>
          <p:cNvSpPr/>
          <p:nvPr/>
        </p:nvSpPr>
        <p:spPr bwMode="auto">
          <a:xfrm flipH="0" flipV="0">
            <a:off x="12796806" y="7677379"/>
            <a:ext cx="1767288" cy="516415"/>
          </a:xfrm>
          <a:prstGeom prst="rect">
            <a:avLst/>
          </a:prstGeom>
          <a:solidFill>
            <a:srgbClr val="1C1D1F"/>
          </a:solidFill>
          <a:ln w="12700" cap="flat" cmpd="sng" algn="ctr">
            <a:solidFill>
              <a:srgbClr val="1C1D1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466259" name="Text 0"/>
          <p:cNvSpPr/>
          <p:nvPr/>
        </p:nvSpPr>
        <p:spPr bwMode="auto">
          <a:xfrm>
            <a:off x="793790" y="1952982"/>
            <a:ext cx="88022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 b="1">
                <a:solidFill>
                  <a:srgbClr val="E1E5CD"/>
                </a:solidFill>
                <a:latin typeface="Outfit Bold"/>
                <a:ea typeface="Outfit Bold"/>
                <a:cs typeface="Outfit Bold"/>
              </a:rPr>
              <a:t>Plan de Trabajo y Roles Asignados</a:t>
            </a:r>
            <a:endParaRPr lang="en-US" sz="4450"/>
          </a:p>
        </p:txBody>
      </p:sp>
      <p:sp>
        <p:nvSpPr>
          <p:cNvPr id="1170477283" name="Shape 1"/>
          <p:cNvSpPr/>
          <p:nvPr/>
        </p:nvSpPr>
        <p:spPr bwMode="auto">
          <a:xfrm>
            <a:off x="793790" y="3001923"/>
            <a:ext cx="13042821" cy="2395657"/>
          </a:xfrm>
          <a:prstGeom prst="roundRect">
            <a:avLst>
              <a:gd name="adj" fmla="val 1420"/>
            </a:avLst>
          </a:prstGeom>
          <a:solidFill>
            <a:srgbClr val="3B3C3E"/>
          </a:solidFill>
          <a:ln/>
        </p:spPr>
      </p:sp>
      <p:sp>
        <p:nvSpPr>
          <p:cNvPr id="1360797556" name="Shape 2"/>
          <p:cNvSpPr/>
          <p:nvPr/>
        </p:nvSpPr>
        <p:spPr bwMode="auto">
          <a:xfrm>
            <a:off x="793790" y="3001923"/>
            <a:ext cx="4347567" cy="2395657"/>
          </a:xfrm>
          <a:prstGeom prst="roundRect">
            <a:avLst>
              <a:gd name="adj" fmla="val 1420"/>
            </a:avLst>
          </a:prstGeom>
          <a:solidFill>
            <a:srgbClr val="3B3C3E"/>
          </a:solidFill>
          <a:ln/>
        </p:spPr>
      </p:sp>
      <p:sp>
        <p:nvSpPr>
          <p:cNvPr id="508740534" name="Text 3"/>
          <p:cNvSpPr/>
          <p:nvPr/>
        </p:nvSpPr>
        <p:spPr bwMode="auto">
          <a:xfrm>
            <a:off x="1020604" y="3228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 b="1">
                <a:solidFill>
                  <a:srgbClr val="C2C4B5"/>
                </a:solidFill>
                <a:latin typeface="Outfit Bold"/>
                <a:ea typeface="Outfit Bold"/>
                <a:cs typeface="Outfit Bold"/>
              </a:rPr>
              <a:t>Jeferson Lima</a:t>
            </a:r>
            <a:endParaRPr lang="en-US" sz="2200"/>
          </a:p>
        </p:txBody>
      </p:sp>
      <p:sp>
        <p:nvSpPr>
          <p:cNvPr id="729053114" name="Text 4"/>
          <p:cNvSpPr/>
          <p:nvPr/>
        </p:nvSpPr>
        <p:spPr bwMode="auto">
          <a:xfrm>
            <a:off x="1020604" y="3719154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Descripción del problema, estructuras de datos, diagramas de flujo, código limpio y manual de usuario.</a:t>
            </a:r>
            <a:endParaRPr lang="en-US" sz="1750"/>
          </a:p>
        </p:txBody>
      </p:sp>
      <p:sp>
        <p:nvSpPr>
          <p:cNvPr id="2026209255" name="Shape 5"/>
          <p:cNvSpPr/>
          <p:nvPr/>
        </p:nvSpPr>
        <p:spPr bwMode="auto">
          <a:xfrm>
            <a:off x="5141357" y="3001923"/>
            <a:ext cx="4347567" cy="2395657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90345118" name="Shape 6"/>
          <p:cNvSpPr/>
          <p:nvPr/>
        </p:nvSpPr>
        <p:spPr bwMode="auto">
          <a:xfrm>
            <a:off x="5141357" y="3001923"/>
            <a:ext cx="30480" cy="2395657"/>
          </a:xfrm>
          <a:prstGeom prst="roundRect">
            <a:avLst>
              <a:gd name="adj" fmla="val 111628"/>
            </a:avLst>
          </a:prstGeom>
          <a:solidFill>
            <a:srgbClr val="545557"/>
          </a:solidFill>
          <a:ln/>
        </p:spPr>
      </p:sp>
      <p:sp>
        <p:nvSpPr>
          <p:cNvPr id="1943394760" name="Text 7"/>
          <p:cNvSpPr/>
          <p:nvPr/>
        </p:nvSpPr>
        <p:spPr bwMode="auto">
          <a:xfrm>
            <a:off x="5368171" y="3228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 b="1">
                <a:solidFill>
                  <a:srgbClr val="C2C4B5"/>
                </a:solidFill>
                <a:latin typeface="Outfit Bold"/>
                <a:ea typeface="Outfit Bold"/>
                <a:cs typeface="Outfit Bold"/>
              </a:rPr>
              <a:t>Patrick Leguía</a:t>
            </a:r>
            <a:endParaRPr lang="en-US" sz="2200"/>
          </a:p>
        </p:txBody>
      </p:sp>
      <p:sp>
        <p:nvSpPr>
          <p:cNvPr id="351623870" name="Text 8"/>
          <p:cNvSpPr/>
          <p:nvPr/>
        </p:nvSpPr>
        <p:spPr bwMode="auto">
          <a:xfrm>
            <a:off x="5368171" y="3719154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Requerimientos del sistema, justificación de elección, pseudocódigo, capturas de validación y repositorio.</a:t>
            </a:r>
            <a:endParaRPr lang="en-US" sz="1750"/>
          </a:p>
        </p:txBody>
      </p:sp>
      <p:sp>
        <p:nvSpPr>
          <p:cNvPr id="1017401670" name="Shape 9"/>
          <p:cNvSpPr/>
          <p:nvPr/>
        </p:nvSpPr>
        <p:spPr bwMode="auto">
          <a:xfrm>
            <a:off x="9488924" y="3001923"/>
            <a:ext cx="4347567" cy="2395657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893818482" name="Shape 10"/>
          <p:cNvSpPr/>
          <p:nvPr/>
        </p:nvSpPr>
        <p:spPr bwMode="auto">
          <a:xfrm>
            <a:off x="9488924" y="3001923"/>
            <a:ext cx="30480" cy="2395657"/>
          </a:xfrm>
          <a:prstGeom prst="roundRect">
            <a:avLst>
              <a:gd name="adj" fmla="val 111628"/>
            </a:avLst>
          </a:prstGeom>
          <a:solidFill>
            <a:srgbClr val="545557"/>
          </a:solidFill>
          <a:ln/>
        </p:spPr>
      </p:sp>
      <p:sp>
        <p:nvSpPr>
          <p:cNvPr id="29458521" name="Text 11"/>
          <p:cNvSpPr/>
          <p:nvPr/>
        </p:nvSpPr>
        <p:spPr bwMode="auto">
          <a:xfrm>
            <a:off x="9715738" y="3228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 b="1">
                <a:solidFill>
                  <a:srgbClr val="C2C4B5"/>
                </a:solidFill>
                <a:latin typeface="Outfit Bold"/>
                <a:ea typeface="Outfit Bold"/>
                <a:cs typeface="Outfit Bold"/>
              </a:rPr>
              <a:t>Wernher Álvares</a:t>
            </a:r>
            <a:endParaRPr lang="en-US" sz="2200"/>
          </a:p>
        </p:txBody>
      </p:sp>
      <p:sp>
        <p:nvSpPr>
          <p:cNvPr id="1208104546" name="Text 12"/>
          <p:cNvSpPr/>
          <p:nvPr/>
        </p:nvSpPr>
        <p:spPr bwMode="auto">
          <a:xfrm>
            <a:off x="9715738" y="3719154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C2C4B5"/>
                </a:solidFill>
                <a:latin typeface="Bitter"/>
                <a:ea typeface="Bitter"/>
                <a:cs typeface="Bitter"/>
              </a:rPr>
              <a:t>Coordinación general, revisión de calidad, integración de componentes y entrega final.</a:t>
            </a:r>
            <a:endParaRPr lang="en-US" sz="1750"/>
          </a:p>
        </p:txBody>
      </p:sp>
      <p:pic>
        <p:nvPicPr>
          <p:cNvPr id="884723415" name="Image 0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93790" y="5652730"/>
            <a:ext cx="2507575" cy="623768"/>
          </a:xfrm>
          <a:prstGeom prst="rect">
            <a:avLst/>
          </a:prstGeom>
        </p:spPr>
      </p:pic>
      <p:sp>
        <p:nvSpPr>
          <p:cNvPr id="2014622060" name=""/>
          <p:cNvSpPr/>
          <p:nvPr/>
        </p:nvSpPr>
        <p:spPr bwMode="auto">
          <a:xfrm flipH="0" flipV="0">
            <a:off x="12854186" y="7665903"/>
            <a:ext cx="1732861" cy="516415"/>
          </a:xfrm>
          <a:prstGeom prst="rect">
            <a:avLst/>
          </a:prstGeom>
          <a:solidFill>
            <a:srgbClr val="1C1D1F"/>
          </a:solidFill>
          <a:ln w="12700" cap="flat" cmpd="sng" algn="ctr">
            <a:solidFill>
              <a:srgbClr val="1C1D1F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</cp:revision>
  <dcterms:created xsi:type="dcterms:W3CDTF">2025-11-07T04:21:25Z</dcterms:created>
  <dcterms:modified xsi:type="dcterms:W3CDTF">2025-11-07T04:29:50Z</dcterms:modified>
</cp:coreProperties>
</file>